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>
                <a:solidFill>
                  <a:srgbClr val="F5F5F5"/>
                </a:solidFill>
                <a:latin typeface="Inter"/>
              </a:rPr>
              <a:t>BLACK KING</a:t>
            </a:r>
            <a:endParaRPr lang="en-US" sz="80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>
                <a:solidFill>
                  <a:srgbClr val="FFD600"/>
                </a:solidFill>
                <a:latin typeface="Inter"/>
              </a:rPr>
              <a:t>BAR</a:t>
            </a:r>
            <a:endParaRPr lang="en-US" sz="80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Inter"/>
              </a:rPr>
              <a:t>Бар как сервис. Закажи напиток, не выходя из Telegram.</a:t>
            </a:r>
            <a:endParaRPr sz="16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635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sz="1100" b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Inter"/>
              </a:rPr>
              <a:t>REST API    ·    Telegram Bot    ·    Web Client</a:t>
            </a:r>
            <a:endParaRPr sz="1100" b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02 / СИСТЕМА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5"/>
                </a:solidFill>
                <a:latin typeface="Inter"/>
              </a:rPr>
              <a:t>Архитектура</a:t>
            </a:r>
            <a:endParaRPr sz="4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145030" y="2560320"/>
            <a:ext cx="219456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3111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600"/>
                </a:solidFill>
                <a:latin typeface="Inter"/>
              </a:rPr>
              <a:t>КЛИЕНТ</a:t>
            </a:r>
            <a:endParaRPr sz="9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1110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  <a:latin typeface="Inter"/>
              </a:rPr>
              <a:t>Telegram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3111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Bot API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679950" y="3200400"/>
            <a:ext cx="365760" cy="274320"/>
          </a:xfrm>
          <a:prstGeom prst="rightArrow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7150" y="2560320"/>
            <a:ext cx="219456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431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600"/>
                </a:solidFill>
                <a:latin typeface="Inter"/>
              </a:rPr>
              <a:t>БОТ</a:t>
            </a:r>
            <a:endParaRPr sz="9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4310" y="3017520"/>
            <a:ext cx="19202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F5F5F5"/>
                </a:solidFill>
                <a:latin typeface="Inter"/>
              </a:rPr>
              <a:t>telebot</a:t>
            </a:r>
            <a:endParaRPr lang="en-US"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7431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FSM, Middleware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423150" y="3200400"/>
            <a:ext cx="365760" cy="274320"/>
          </a:xfrm>
          <a:prstGeom prst="rightArrow">
            <a:avLst/>
          </a:prstGeom>
          <a:solidFill>
            <a:srgbClr val="FFD600"/>
          </a:solidFill>
          <a:ln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80350" y="2560320"/>
            <a:ext cx="219456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751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600"/>
                </a:solidFill>
                <a:latin typeface="Inter"/>
              </a:rPr>
              <a:t>API</a:t>
            </a:r>
            <a:endParaRPr sz="9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7510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  <a:latin typeface="Inter"/>
              </a:rPr>
              <a:t>Flask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1751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REST, JWT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A3A3A"/>
                </a:solidFill>
                <a:latin typeface="Inter"/>
              </a:rPr>
              <a:t>WEBHOOK</a:t>
            </a:r>
            <a:endParaRPr sz="8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A3A3A"/>
                </a:solidFill>
                <a:latin typeface="Inter"/>
              </a:rPr>
              <a:t>HTTP / JSON</a:t>
            </a:r>
            <a:endParaRPr sz="8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79" y="4572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A3A3A"/>
                </a:solidFill>
                <a:latin typeface="Inter"/>
              </a:rPr>
              <a:t>SQLALCHEMY</a:t>
            </a:r>
            <a:endParaRPr sz="8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Docker  ·  Render  ·  CI/CD  ·  Rate Limiting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03 / BACKEND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5"/>
                </a:solidFill>
                <a:latin typeface="Inter"/>
              </a:rPr>
              <a:t>API &amp; Auth</a:t>
            </a:r>
            <a:endParaRPr sz="40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Inter"/>
              </a:rPr>
              <a:t>POST</a:t>
            </a:r>
            <a:endParaRPr sz="900" b="1">
              <a:solidFill>
                <a:srgbClr val="60A5F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/auth/register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Регистрация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Inter"/>
              </a:rPr>
              <a:t>POST</a:t>
            </a:r>
            <a:endParaRPr sz="900" b="1">
              <a:solidFill>
                <a:srgbClr val="60A5F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/auth/login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327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Вход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71600" y="228600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DE80"/>
                </a:solidFill>
                <a:latin typeface="Inter"/>
              </a:rPr>
              <a:t>GET</a:t>
            </a:r>
            <a:endParaRPr sz="900" b="1">
              <a:solidFill>
                <a:srgbClr val="4ADE80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/menu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Меню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0" y="228600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Inter"/>
              </a:rPr>
              <a:t>POST</a:t>
            </a:r>
            <a:endParaRPr sz="900" b="1">
              <a:solidFill>
                <a:srgbClr val="60A5F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/orders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Заказ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71600" y="310896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ADE80"/>
                </a:solidFill>
                <a:latin typeface="Inter"/>
              </a:rPr>
              <a:t>GET</a:t>
            </a:r>
            <a:endParaRPr sz="900" b="1">
              <a:solidFill>
                <a:srgbClr val="4ADE80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/balance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4632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Баланс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0" y="3108960"/>
            <a:ext cx="731520" cy="320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A5FA"/>
                </a:solidFill>
                <a:latin typeface="Inter"/>
              </a:rPr>
              <a:t>POST</a:t>
            </a:r>
            <a:endParaRPr sz="900" b="1">
              <a:solidFill>
                <a:srgbClr val="60A5FA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Inter"/>
              </a:rPr>
              <a:t>/promo/apply</a:t>
            </a:r>
            <a:endParaRPr sz="11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3272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3A3A3A"/>
                </a:solidFill>
                <a:latin typeface="Inter"/>
              </a:rPr>
              <a:t>Промокод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" y="4114800"/>
            <a:ext cx="2286000" cy="14630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4114800"/>
            <a:ext cx="2286000" cy="14630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4114800"/>
            <a:ext cx="2286000" cy="14630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44000" y="4114800"/>
            <a:ext cx="2286000" cy="14630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04 / ИНТЕРФЕЙСЫ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5"/>
                </a:solidFill>
                <a:latin typeface="Inter"/>
              </a:rPr>
              <a:t>Бот и Web</a:t>
            </a:r>
            <a:endParaRPr sz="40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5029200" y="1645920"/>
            <a:ext cx="5943600" cy="9144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Inter"/>
              </a:rPr>
              <a:t>🤖</a:t>
            </a:r>
            <a:endParaRPr sz="18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>
            <p:custDataLst>
              <p:tags r:id="rId2"/>
            </p:custDataLst>
          </p:nvPr>
        </p:nvSpPr>
        <p:spPr>
          <a:xfrm>
            <a:off x="56692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Inter"/>
              </a:rPr>
              <a:t>Telegram Bot</a:t>
            </a:r>
            <a:endParaRPr sz="12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56692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nter"/>
              </a:rPr>
              <a:t>FSM, inline-кнопки, push-уведомления</a:t>
            </a:r>
            <a:endParaRPr sz="10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20" name="Rounded Rectangle 19"/>
          <p:cNvSpPr/>
          <p:nvPr>
            <p:custDataLst>
              <p:tags r:id="rId4"/>
            </p:custDataLst>
          </p:nvPr>
        </p:nvSpPr>
        <p:spPr>
          <a:xfrm>
            <a:off x="5029200" y="2743200"/>
            <a:ext cx="5943600" cy="9144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Inter"/>
              </a:rPr>
              <a:t>🌐</a:t>
            </a:r>
            <a:endParaRPr sz="18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>
            <p:custDataLst>
              <p:tags r:id="rId5"/>
            </p:custDataLst>
          </p:nvPr>
        </p:nvSpPr>
        <p:spPr>
          <a:xfrm>
            <a:off x="566928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Inter"/>
              </a:rPr>
              <a:t>Web Client</a:t>
            </a:r>
            <a:endParaRPr sz="12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>
            <p:custDataLst>
              <p:tags r:id="rId6"/>
            </p:custDataLst>
          </p:nvPr>
        </p:nvSpPr>
        <p:spPr>
          <a:xfrm>
            <a:off x="56692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nter"/>
              </a:rPr>
              <a:t>React. Адаптивный интерфейс.</a:t>
            </a:r>
            <a:endParaRPr sz="10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28" name="Rounded Rectangle 27"/>
          <p:cNvSpPr/>
          <p:nvPr>
            <p:custDataLst>
              <p:tags r:id="rId7"/>
            </p:custDataLst>
          </p:nvPr>
        </p:nvSpPr>
        <p:spPr>
          <a:xfrm>
            <a:off x="5212080" y="3657599"/>
            <a:ext cx="5943600" cy="9144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3718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Inter"/>
              </a:rPr>
              <a:t>🔗</a:t>
            </a:r>
            <a:endParaRPr sz="18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>
            <p:custDataLst>
              <p:tags r:id="rId8"/>
            </p:custDataLst>
          </p:nvPr>
        </p:nvSpPr>
        <p:spPr>
          <a:xfrm>
            <a:off x="5669280" y="37261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Inter"/>
              </a:rPr>
              <a:t>Один API</a:t>
            </a:r>
            <a:endParaRPr sz="12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31" name="TextBox 30"/>
          <p:cNvSpPr txBox="1"/>
          <p:nvPr>
            <p:custDataLst>
              <p:tags r:id="rId9"/>
            </p:custDataLst>
          </p:nvPr>
        </p:nvSpPr>
        <p:spPr>
          <a:xfrm>
            <a:off x="536956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nter"/>
              </a:rPr>
              <a:t>Все клиенты к одному backend.</a:t>
            </a:r>
            <a:endParaRPr sz="1000" b="0">
              <a:solidFill>
                <a:srgbClr val="88888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05 / ПРОДУКТ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5"/>
                </a:solidFill>
                <a:latin typeface="Inter"/>
              </a:rPr>
              <a:t>Возможности</a:t>
            </a:r>
            <a:endParaRPr sz="40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914400" y="1463040"/>
            <a:ext cx="347472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5"/>
                </a:solidFill>
                <a:latin typeface="Inter"/>
              </a:rPr>
              <a:t>👤</a:t>
            </a:r>
            <a:endParaRPr sz="24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0972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Регистрация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97280" y="2423160"/>
            <a:ext cx="3108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100" b="0">
                <a:solidFill>
                  <a:srgbClr val="888888"/>
                </a:solidFill>
                <a:latin typeface="Inter"/>
              </a:rPr>
              <a:t>дается внутренний айди при заходе</a:t>
            </a:r>
            <a:r>
              <a:rPr sz="1100" b="0">
                <a:solidFill>
                  <a:srgbClr val="888888"/>
                </a:solidFill>
                <a:latin typeface="Inter"/>
              </a:rPr>
              <a:t>.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4754880" y="1463040"/>
            <a:ext cx="347472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5"/>
                </a:solidFill>
                <a:latin typeface="Inter"/>
              </a:rPr>
              <a:t>📋</a:t>
            </a:r>
            <a:endParaRPr sz="24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93776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Меню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937760" y="2423160"/>
            <a:ext cx="31089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100" b="0">
                <a:solidFill>
                  <a:srgbClr val="888888"/>
                </a:solidFill>
                <a:latin typeface="Inter"/>
              </a:rPr>
              <a:t>меню, профиль, промо, сброс</a:t>
            </a:r>
            <a:r>
              <a:rPr sz="1100" b="0">
                <a:solidFill>
                  <a:srgbClr val="888888"/>
                </a:solidFill>
                <a:latin typeface="Inter"/>
              </a:rPr>
              <a:t>.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87782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Баланс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8670925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nter"/>
              </a:rPr>
              <a:t>Внутренний счёт. Пополнение, траты.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24" name="Rounded Rectangle 23"/>
          <p:cNvSpPr/>
          <p:nvPr>
            <p:custDataLst>
              <p:tags r:id="rId9"/>
            </p:custDataLst>
          </p:nvPr>
        </p:nvSpPr>
        <p:spPr>
          <a:xfrm>
            <a:off x="4376420" y="3429000"/>
            <a:ext cx="3474720" cy="18288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930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5F5F5"/>
                </a:solidFill>
                <a:latin typeface="Inter"/>
              </a:rPr>
              <a:t>📊</a:t>
            </a:r>
            <a:endParaRPr sz="2400" b="0">
              <a:solidFill>
                <a:srgbClr val="F5F5F5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>
            <p:custDataLst>
              <p:tags r:id="rId10"/>
            </p:custDataLst>
          </p:nvPr>
        </p:nvSpPr>
        <p:spPr>
          <a:xfrm>
            <a:off x="455930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История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>
            <p:custDataLst>
              <p:tags r:id="rId11"/>
            </p:custDataLst>
          </p:nvPr>
        </p:nvSpPr>
        <p:spPr>
          <a:xfrm>
            <a:off x="4559300" y="4389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nter"/>
              </a:rPr>
              <a:t>Все заказы в профиле. Повторить в 1 клик.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33" name="Текстовое поле 32"/>
          <p:cNvSpPr txBox="1"/>
          <p:nvPr/>
        </p:nvSpPr>
        <p:spPr>
          <a:xfrm>
            <a:off x="8595360" y="1368425"/>
            <a:ext cx="609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400">
                <a:solidFill>
                  <a:srgbClr val="F5F5F5"/>
                </a:solidFill>
                <a:latin typeface="Inter"/>
                <a:sym typeface="+mn-ea"/>
              </a:rPr>
              <a:t>💰</a:t>
            </a:r>
            <a:endParaRPr sz="2400">
              <a:solidFill>
                <a:srgbClr val="F5F5F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06 / ИТОГИ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5"/>
                </a:solidFill>
                <a:latin typeface="Inter"/>
              </a:rPr>
              <a:t>Результат и планы</a:t>
            </a:r>
            <a:endParaRPr sz="40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D600"/>
                </a:solidFill>
                <a:latin typeface="Inter"/>
              </a:rPr>
              <a:t>8</a:t>
            </a:r>
            <a:endParaRPr sz="56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API ENDPOINTS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32004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56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D600"/>
                </a:solidFill>
                <a:latin typeface="Inter"/>
              </a:rPr>
              <a:t>100%</a:t>
            </a:r>
            <a:endParaRPr sz="56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3A3A"/>
                </a:solidFill>
                <a:latin typeface="Inter"/>
              </a:rPr>
              <a:t>РАБОЧИЙ ПРОДУКТ</a:t>
            </a:r>
            <a:endParaRPr sz="1000" b="0">
              <a:solidFill>
                <a:srgbClr val="3A3A3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Inter"/>
              </a:rPr>
              <a:t>Живой продукт: бот, веб и мобильное приложение работают с одним API. Бизнес получает прямой канал продаж с нулевой стоимостью входа.</a:t>
            </a:r>
            <a:endParaRPr sz="14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3474720" cy="1645920"/>
          </a:xfrm>
          <a:prstGeom prst="roundRect">
            <a:avLst/>
          </a:prstGeom>
          <a:solidFill>
            <a:srgbClr val="1A1600"/>
          </a:solidFill>
          <a:ln w="12700">
            <a:solidFill>
              <a:srgbClr val="33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D600"/>
                </a:solidFill>
                <a:latin typeface="Inter"/>
              </a:rPr>
              <a:t>💎</a:t>
            </a:r>
            <a:endParaRPr sz="2400" b="0">
              <a:solidFill>
                <a:srgbClr val="FFD600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Экономика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nter"/>
              </a:rPr>
              <a:t>Внутренняя валюта, кешбэк, подписки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4880" y="3840480"/>
            <a:ext cx="3474720" cy="1645920"/>
          </a:xfrm>
          <a:prstGeom prst="roundRect">
            <a:avLst/>
          </a:prstGeom>
          <a:solidFill>
            <a:srgbClr val="1A1600"/>
          </a:solidFill>
          <a:ln w="12700">
            <a:solidFill>
              <a:srgbClr val="33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D600"/>
                </a:solidFill>
                <a:latin typeface="Inter"/>
              </a:rPr>
              <a:t>🏆</a:t>
            </a:r>
            <a:endParaRPr sz="2400" b="0">
              <a:solidFill>
                <a:srgbClr val="FFD600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776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Уровни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0" y="4800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nter"/>
              </a:rPr>
              <a:t>Бронза, серебро, золото, VIP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95360" y="3840480"/>
            <a:ext cx="3474720" cy="1645920"/>
          </a:xfrm>
          <a:prstGeom prst="roundRect">
            <a:avLst/>
          </a:prstGeom>
          <a:solidFill>
            <a:srgbClr val="1A1600"/>
          </a:solidFill>
          <a:ln w="12700">
            <a:solidFill>
              <a:srgbClr val="33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D600"/>
                </a:solidFill>
                <a:latin typeface="Inter"/>
              </a:rPr>
              <a:t>🌍</a:t>
            </a:r>
            <a:endParaRPr sz="2400" b="0">
              <a:solidFill>
                <a:srgbClr val="FFD600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Inter"/>
              </a:rPr>
              <a:t>Масштаб</a:t>
            </a:r>
            <a:endParaRPr sz="14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0" y="4800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nter"/>
              </a:rPr>
              <a:t>Мультибарность. Один бот — несколько заведений</a:t>
            </a:r>
            <a:endParaRPr sz="1100" b="0">
              <a:solidFill>
                <a:srgbClr val="88888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600"/>
                </a:solidFill>
                <a:latin typeface="Inter"/>
              </a:rPr>
              <a:t>07 / ФИНАЛ</a:t>
            </a:r>
            <a:endParaRPr sz="11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>
                <a:solidFill>
                  <a:srgbClr val="F5F5F5"/>
                </a:solidFill>
                <a:latin typeface="Inter"/>
              </a:rPr>
              <a:t>BLACK KING</a:t>
            </a:r>
            <a:endParaRPr lang="en-US" sz="7200" b="1">
              <a:solidFill>
                <a:srgbClr val="F5F5F5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D600"/>
                </a:solidFill>
                <a:latin typeface="Inter"/>
              </a:rPr>
              <a:t>BAR</a:t>
            </a:r>
            <a:endParaRPr sz="7200" b="1">
              <a:solidFill>
                <a:srgbClr val="FFD600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Inter"/>
              </a:rPr>
              <a:t>Бар как сервис. Готов к запуску.</a:t>
            </a:r>
            <a:endParaRPr sz="1600" b="0">
              <a:solidFill>
                <a:srgbClr val="888888"/>
              </a:solidFill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0" y="4754880"/>
            <a:ext cx="2011680" cy="45720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Inter"/>
              </a:rPr>
              <a:t>📁 GitHub</a:t>
            </a:r>
            <a:endParaRPr sz="1200" b="0">
              <a:solidFill>
                <a:srgbClr val="F5F5F5"/>
              </a:solidFill>
              <a:latin typeface="Inter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2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3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4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5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6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7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8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9.xml><?xml version="1.0" encoding="utf-8"?>
<p:tagLst xmlns:p="http://schemas.openxmlformats.org/presentationml/2006/main">
  <p:tag name="KSO_WM_DIAGRAM_VIRTUALLY_FRAME" val="{&quot;height&quot;:331.1999212598424,&quot;left&quot;:396,&quot;top&quot;:129.6,&quot;width&quot;:482.4}"/>
</p:tagLst>
</file>

<file path=ppt/tags/tag10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1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2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3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4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5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6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7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8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19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ags/tag20.xml><?xml version="1.0" encoding="utf-8"?>
<p:tagLst xmlns:p="http://schemas.openxmlformats.org/presentationml/2006/main">
  <p:tag name="KSO_WM_DIAGRAM_VIRTUALLY_FRAME" val="{&quot;height&quot;:316.8,&quot;left&quot;:72,&quot;top&quot;:115.2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WPS Presentation</Application>
  <PresentationFormat>On-screen Show (4:3)</PresentationFormat>
  <Paragraphs>170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Inter</vt:lpstr>
      <vt:lpstr>Segoe Print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3</cp:revision>
  <dcterms:created xsi:type="dcterms:W3CDTF">2013-01-27T09:14:00Z</dcterms:created>
  <dcterms:modified xsi:type="dcterms:W3CDTF">2026-04-26T10:50:57Z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2E13450FC9BC4AAABAFCB2FC4FA13944_12</vt:lpwstr>
  </property>
  <property fmtid="{D5CDD505-2E9C-101B-9397-08002B2CF9AE}" pid="3" name="KSOProductBuildVer">
    <vt:lpwstr>1049-12.2.0.23196</vt:lpwstr>
  </property>
</Properties>
</file>